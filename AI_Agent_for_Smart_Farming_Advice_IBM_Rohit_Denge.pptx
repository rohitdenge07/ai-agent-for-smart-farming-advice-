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87" r:id="rId9"/>
    <p:sldId id="262" r:id="rId10"/>
    <p:sldId id="264"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6DD2E0C-5240-5DAA-3049-275F346E717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EA081DBB-97C6-3247-09D0-A4EE918DA2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4C281462-AC92-9670-A825-8EB0B142D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66473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ohitdenge07/AI-Agent-for-Smart-Farming-Advic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2455554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Rohit Deepak Denge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rohitdenge07@gmail.com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+91 7030706006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Agriculture</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AI Agent for Smart Farming Advice</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BDB2CFFB-C004-C1FC-F9CF-470A7E39A57E}"/>
              </a:ext>
            </a:extLst>
          </p:cNvPr>
          <p:cNvPicPr>
            <a:picLocks noChangeAspect="1"/>
          </p:cNvPicPr>
          <p:nvPr/>
        </p:nvPicPr>
        <p:blipFill>
          <a:blip r:embed="rId3"/>
          <a:stretch>
            <a:fillRect/>
          </a:stretch>
        </p:blipFill>
        <p:spPr>
          <a:xfrm>
            <a:off x="4050595" y="3707564"/>
            <a:ext cx="1003159" cy="9170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AI Agent for Smart Farming Advice</a:t>
            </a:r>
            <a:endParaRPr lang="en-US" dirty="0"/>
          </a:p>
          <a:p>
            <a:pPr fontAlgn="base"/>
            <a:endParaRPr lang="en-US" b="1" dirty="0"/>
          </a:p>
          <a:p>
            <a:pPr fontAlgn="base"/>
            <a:r>
              <a:rPr lang="en-US" b="1" dirty="0"/>
              <a:t>The Challenge</a:t>
            </a:r>
            <a:r>
              <a:rPr lang="en-US" dirty="0"/>
              <a:t> </a:t>
            </a:r>
          </a:p>
          <a:p>
            <a:pPr fontAlgn="base"/>
            <a:r>
              <a:rPr lang="en-US" dirty="0"/>
              <a:t>Small-scale farmers often face difficulties in accessing reliable and timely agricultural information. </a:t>
            </a:r>
          </a:p>
          <a:p>
            <a:pPr fontAlgn="base"/>
            <a:r>
              <a:rPr lang="en-US" dirty="0"/>
              <a:t>Making informed decisions regarding crop selection, soil management, fertilizer usage, and pest control remains a significant challenge. Additionally, language barriers and limited access to modern technology restrict the adoption of smart farming practices.</a:t>
            </a:r>
          </a:p>
          <a:p>
            <a:pPr fontAlgn="base"/>
            <a:endParaRPr lang="en-US" dirty="0"/>
          </a:p>
          <a:p>
            <a:pPr fontAlgn="base"/>
            <a:r>
              <a:rPr lang="en-US" b="1" dirty="0"/>
              <a:t>The Objective</a:t>
            </a:r>
            <a:r>
              <a:rPr lang="en-US" dirty="0"/>
              <a:t> </a:t>
            </a:r>
          </a:p>
          <a:p>
            <a:r>
              <a:rPr lang="en-IN" dirty="0"/>
              <a:t>The objective of this project is to develop an </a:t>
            </a:r>
            <a:r>
              <a:rPr lang="en-IN" b="1" dirty="0"/>
              <a:t>AI-powered Smart Farming Advisor </a:t>
            </a:r>
            <a:r>
              <a:rPr lang="en-IN" dirty="0"/>
              <a:t>using IBM watsonx Orchestrate and a knowledge-based RAG system to provide accurate agricultural guidance to farmers.</a:t>
            </a:r>
          </a:p>
          <a:p>
            <a:endParaRPr lang="en-IN" dirty="0"/>
          </a:p>
          <a:p>
            <a:r>
              <a:rPr lang="en-IN" dirty="0"/>
              <a:t>• </a:t>
            </a:r>
            <a:r>
              <a:rPr lang="en-IN" b="1" dirty="0"/>
              <a:t>Crop Recommendation</a:t>
            </a:r>
            <a:r>
              <a:rPr lang="en-IN" dirty="0"/>
              <a:t> – Suggest suitable crops based on soil conditions, season, and farming requirements.</a:t>
            </a:r>
          </a:p>
          <a:p>
            <a:r>
              <a:rPr lang="en-IN" dirty="0"/>
              <a:t>• </a:t>
            </a:r>
            <a:r>
              <a:rPr lang="en-IN" b="1" dirty="0"/>
              <a:t>Soil &amp; Fertilizer Guidance</a:t>
            </a:r>
            <a:r>
              <a:rPr lang="en-IN" dirty="0"/>
              <a:t> – Provide recommendations for soil health management and appropriate fertilizer usage.</a:t>
            </a:r>
          </a:p>
          <a:p>
            <a:r>
              <a:rPr lang="en-IN" dirty="0"/>
              <a:t>• </a:t>
            </a:r>
            <a:r>
              <a:rPr lang="en-IN" b="1" dirty="0"/>
              <a:t>Pest &amp; Disease Management</a:t>
            </a:r>
            <a:r>
              <a:rPr lang="en-IN" dirty="0"/>
              <a:t> – Help farmers identify and control crop pests and diseases effectively.</a:t>
            </a:r>
          </a:p>
          <a:p>
            <a:r>
              <a:rPr lang="en-IN" dirty="0"/>
              <a:t>• </a:t>
            </a:r>
            <a:r>
              <a:rPr lang="en-IN" b="1" dirty="0"/>
              <a:t>Knowledge-Based Information Retrieval</a:t>
            </a:r>
            <a:r>
              <a:rPr lang="en-IN" dirty="0"/>
              <a:t> – Deliver accurate responses using uploaded agricultural documents and knowledge sources.</a:t>
            </a:r>
          </a:p>
          <a:p>
            <a:r>
              <a:rPr lang="en-IN" dirty="0"/>
              <a:t>• </a:t>
            </a:r>
            <a:r>
              <a:rPr lang="en-IN" b="1" dirty="0"/>
              <a:t>Farmer-Friendly Assistance</a:t>
            </a:r>
            <a:r>
              <a:rPr lang="en-IN" dirty="0"/>
              <a:t> – Provide simple, easy-to-understand agricultural guidance for better decision-making.</a:t>
            </a:r>
          </a:p>
          <a:p>
            <a:r>
              <a:rPr lang="en-IN" dirty="0"/>
              <a:t>• </a:t>
            </a:r>
            <a:r>
              <a:rPr lang="en-IN" b="1" dirty="0"/>
              <a:t>Sustainable Farming Support</a:t>
            </a:r>
            <a:r>
              <a:rPr lang="en-IN" dirty="0"/>
              <a:t> – Encourage smart and sustainable farming practices to improve productivity and reduce risks.</a:t>
            </a:r>
          </a:p>
          <a:p>
            <a:r>
              <a:rPr lang="en-IN" dirty="0"/>
              <a:t>• </a:t>
            </a:r>
            <a:r>
              <a:rPr lang="en-IN" b="1" dirty="0"/>
              <a:t>Multilingual Support</a:t>
            </a:r>
            <a:r>
              <a:rPr lang="en-IN" dirty="0"/>
              <a:t> – Enable farmers to interact with the system in simple language and receive understandable agricultural guidance.</a:t>
            </a:r>
          </a:p>
          <a:p>
            <a:r>
              <a:rPr lang="en-IN" dirty="0"/>
              <a:t>• </a:t>
            </a:r>
            <a:r>
              <a:rPr lang="en-IN" b="1" dirty="0"/>
              <a:t>Improved Decision Making</a:t>
            </a:r>
            <a:r>
              <a:rPr lang="en-IN" dirty="0"/>
              <a:t> – Assist farmers in making informed decisions regarding crop planning, resource utilization, and farm management.</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384995"/>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endParaRPr lang="en-US" dirty="0"/>
          </a:p>
          <a:p>
            <a:pPr fontAlgn="base"/>
            <a:r>
              <a:rPr lang="en-US" dirty="0"/>
              <a:t>IBM Cloud + IBM watsonx Orchestrate, </a:t>
            </a:r>
          </a:p>
          <a:p>
            <a:pPr fontAlgn="base"/>
            <a:r>
              <a:rPr lang="en-US" dirty="0"/>
              <a:t>RAG, Knowledge Base, HTML, CSS, GitHub.</a:t>
            </a:r>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IN" b="1" dirty="0"/>
              <a:t>Proposed Solution – AI Agent for Smart Farming Advice</a:t>
            </a:r>
          </a:p>
          <a:p>
            <a:r>
              <a:rPr lang="en-IN" dirty="0"/>
              <a:t>The proposed solution is an </a:t>
            </a:r>
            <a:r>
              <a:rPr lang="en-IN" b="1" dirty="0"/>
              <a:t>AI-powered Smart Farming Advisor</a:t>
            </a:r>
            <a:r>
              <a:rPr lang="en-IN" dirty="0"/>
              <a:t> developed using </a:t>
            </a:r>
            <a:r>
              <a:rPr lang="en-IN" b="1" dirty="0"/>
              <a:t>IBM watsonx Orchestrate</a:t>
            </a:r>
            <a:r>
              <a:rPr lang="en-IN" dirty="0"/>
              <a:t> and a </a:t>
            </a:r>
            <a:r>
              <a:rPr lang="en-IN" b="1" dirty="0"/>
              <a:t>Retrieval-Augmented Generation (RAG)</a:t>
            </a:r>
            <a:r>
              <a:rPr lang="en-IN" dirty="0"/>
              <a:t> knowledge base. The system assists farmers by providing accurate and reliable agricultural guidance based on uploaded farming documents and knowledge sources.</a:t>
            </a:r>
          </a:p>
          <a:p>
            <a:r>
              <a:rPr lang="en-IN" dirty="0"/>
              <a:t>The solution helps farmers make informed decisions regarding crop selection, soil management, fertilizer usage, and pest control. By retrieving information from agricultural PDFs, the agent delivers context-aware responses and reduces dependency on manual research</a:t>
            </a:r>
          </a:p>
          <a:p>
            <a:r>
              <a:rPr lang="en-IN" dirty="0"/>
              <a:t>The system consists of the following key modules:</a:t>
            </a:r>
          </a:p>
          <a:p>
            <a:r>
              <a:rPr lang="en-IN" b="1" dirty="0"/>
              <a:t>Crop Recommendation Module</a:t>
            </a:r>
            <a:r>
              <a:rPr lang="en-IN" dirty="0"/>
              <a:t> – Suggests suitable crops based on soil conditions, season, and farming requirements.</a:t>
            </a:r>
          </a:p>
          <a:p>
            <a:r>
              <a:rPr lang="en-IN" b="1" dirty="0"/>
              <a:t>Soil &amp; Fertilizer Guidance Module</a:t>
            </a:r>
            <a:r>
              <a:rPr lang="en-IN" dirty="0"/>
              <a:t> – Provides recommendations for maintaining soil health and selecting appropriate fertilizers.</a:t>
            </a:r>
          </a:p>
          <a:p>
            <a:r>
              <a:rPr lang="en-IN" b="1" dirty="0"/>
              <a:t>Pest &amp; Disease Management Module</a:t>
            </a:r>
            <a:r>
              <a:rPr lang="en-IN" dirty="0"/>
              <a:t> – Assists farmers in identifying common pests and diseases and suggests preventive measures.</a:t>
            </a:r>
          </a:p>
          <a:p>
            <a:r>
              <a:rPr lang="en-IN" b="1" dirty="0"/>
              <a:t>Knowledge Retrieval Module</a:t>
            </a:r>
            <a:r>
              <a:rPr lang="en-IN" dirty="0"/>
              <a:t> – Uses RAG to retrieve relevant information from agricultural documents and generate accurate responses.</a:t>
            </a:r>
          </a:p>
          <a:p>
            <a:r>
              <a:rPr lang="en-IN" b="1" dirty="0"/>
              <a:t>Farmer Assistance Module</a:t>
            </a:r>
            <a:r>
              <a:rPr lang="en-IN" dirty="0"/>
              <a:t> – Offers simple and easy-to-understand guidance for day-to-day farming activities.</a:t>
            </a:r>
          </a:p>
          <a:p>
            <a:r>
              <a:rPr lang="en-IN" b="1" dirty="0"/>
              <a:t>This content is tailored to the project- </a:t>
            </a:r>
            <a:r>
              <a:rPr lang="en-IN" dirty="0"/>
              <a:t>with actually built with </a:t>
            </a:r>
            <a:r>
              <a:rPr lang="en-IN" b="1" dirty="0"/>
              <a:t>IBM Cloud + IBM watsonx Orchestrate + RAG + Agricultural PDFs + HTML/CSS/GitHub</a:t>
            </a:r>
            <a:r>
              <a:rPr lang="en-IN" dirty="0"/>
              <a: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Orchestrate</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rtlCol="0">
            <a:spAutoFit/>
          </a:bodyPr>
          <a:lstStyle/>
          <a:p>
            <a:endParaRPr lang="en-IN" b="1" dirty="0"/>
          </a:p>
          <a:p>
            <a:r>
              <a:rPr lang="en-IN" b="1" dirty="0"/>
              <a:t>1) Chat Input</a:t>
            </a:r>
            <a:r>
              <a:rPr lang="en-IN" dirty="0"/>
              <a:t> – Interface where farmers enter queries related to crops, soil health, fertilizers, pests, and farming practices.</a:t>
            </a:r>
          </a:p>
          <a:p>
            <a:r>
              <a:rPr lang="en-IN" b="1" dirty="0"/>
              <a:t>2) IBM watsonx Orchestrate Agent</a:t>
            </a:r>
            <a:r>
              <a:rPr lang="en-IN" dirty="0"/>
              <a:t> – Processes user queries and provides intelligent agricultural guidance using the configured knowledge base.</a:t>
            </a:r>
          </a:p>
          <a:p>
            <a:r>
              <a:rPr lang="en-IN" b="1" dirty="0"/>
              <a:t>3) Knowledge Source (RAG)</a:t>
            </a:r>
            <a:r>
              <a:rPr lang="en-IN" dirty="0"/>
              <a:t> – Retrieves relevant information from uploaded agricultural documents such as crop cultivation guides, soil management manuals, and pest control resources.</a:t>
            </a:r>
          </a:p>
          <a:p>
            <a:r>
              <a:rPr lang="en-IN" b="1" dirty="0"/>
              <a:t>4) Chat Output</a:t>
            </a:r>
            <a:r>
              <a:rPr lang="en-IN" dirty="0"/>
              <a:t> – Displays AI-generated responses and recommendations related to farming activities and agricultural decision-making.</a:t>
            </a:r>
          </a:p>
          <a:p>
            <a:r>
              <a:rPr lang="en-IN" b="1" dirty="0"/>
              <a:t>5) File Component</a:t>
            </a:r>
            <a:r>
              <a:rPr lang="en-IN" dirty="0"/>
              <a:t> – Stores and accesses uploaded agricultural PDF documents used as the knowledge base for the agent.</a:t>
            </a:r>
          </a:p>
          <a:p>
            <a:r>
              <a:rPr lang="en-IN" b="1" dirty="0"/>
              <a:t>6) Web Integration Component</a:t>
            </a:r>
            <a:r>
              <a:rPr lang="en-IN" dirty="0"/>
              <a:t> – Integrates the IBM watsonx Orchestrate chat agent into a web application using HTML, CSS, and JavaScript.</a:t>
            </a:r>
          </a:p>
          <a:p>
            <a:r>
              <a:rPr lang="en-IN" b="1" dirty="0"/>
              <a:t>7) Guidelines &amp; Behavior Component</a:t>
            </a:r>
            <a:r>
              <a:rPr lang="en-IN" dirty="0"/>
              <a:t> – Defines agent behavior, response rules, and farming-specific recommendations to ensure accurate and relevant outputs.</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Screenshots -</a:t>
            </a:r>
            <a:endParaRPr sz="2400" b="1" dirty="0">
              <a:sym typeface="Times New Roman"/>
            </a:endParaRPr>
          </a:p>
        </p:txBody>
      </p:sp>
      <p:pic>
        <p:nvPicPr>
          <p:cNvPr id="5" name="Picture 4">
            <a:extLst>
              <a:ext uri="{FF2B5EF4-FFF2-40B4-BE49-F238E27FC236}">
                <a16:creationId xmlns:a16="http://schemas.microsoft.com/office/drawing/2014/main" id="{D5BA246D-6EF5-2681-3FC4-2BBCEE72BB89}"/>
              </a:ext>
            </a:extLst>
          </p:cNvPr>
          <p:cNvPicPr>
            <a:picLocks noChangeAspect="1"/>
          </p:cNvPicPr>
          <p:nvPr/>
        </p:nvPicPr>
        <p:blipFill>
          <a:blip r:embed="rId3"/>
          <a:stretch>
            <a:fillRect/>
          </a:stretch>
        </p:blipFill>
        <p:spPr>
          <a:xfrm>
            <a:off x="2772697" y="537661"/>
            <a:ext cx="5778183" cy="2891339"/>
          </a:xfrm>
          <a:prstGeom prst="rect">
            <a:avLst/>
          </a:prstGeom>
        </p:spPr>
      </p:pic>
      <p:pic>
        <p:nvPicPr>
          <p:cNvPr id="7" name="Picture 6">
            <a:extLst>
              <a:ext uri="{FF2B5EF4-FFF2-40B4-BE49-F238E27FC236}">
                <a16:creationId xmlns:a16="http://schemas.microsoft.com/office/drawing/2014/main" id="{C971B134-FBE4-EF1C-4A9C-792000EC6295}"/>
              </a:ext>
            </a:extLst>
          </p:cNvPr>
          <p:cNvPicPr>
            <a:picLocks noChangeAspect="1"/>
          </p:cNvPicPr>
          <p:nvPr/>
        </p:nvPicPr>
        <p:blipFill>
          <a:blip r:embed="rId4"/>
          <a:stretch>
            <a:fillRect/>
          </a:stretch>
        </p:blipFill>
        <p:spPr>
          <a:xfrm>
            <a:off x="2772697" y="3643422"/>
            <a:ext cx="5778183" cy="302526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F2250BF-60FE-B728-F495-A8100224FFF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7DF5F92E-5B6E-B593-62C3-237A2EA1AA54}"/>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endParaRPr lang="en-US" sz="2400" dirty="0"/>
          </a:p>
        </p:txBody>
      </p:sp>
      <p:pic>
        <p:nvPicPr>
          <p:cNvPr id="6" name="Picture 5">
            <a:extLst>
              <a:ext uri="{FF2B5EF4-FFF2-40B4-BE49-F238E27FC236}">
                <a16:creationId xmlns:a16="http://schemas.microsoft.com/office/drawing/2014/main" id="{AF45CA5E-2ADE-B205-5219-D3A61D549F64}"/>
              </a:ext>
            </a:extLst>
          </p:cNvPr>
          <p:cNvPicPr>
            <a:picLocks noChangeAspect="1"/>
          </p:cNvPicPr>
          <p:nvPr/>
        </p:nvPicPr>
        <p:blipFill>
          <a:blip r:embed="rId3"/>
          <a:stretch>
            <a:fillRect/>
          </a:stretch>
        </p:blipFill>
        <p:spPr>
          <a:xfrm>
            <a:off x="2566220" y="108155"/>
            <a:ext cx="6322141" cy="3110681"/>
          </a:xfrm>
          <a:prstGeom prst="rect">
            <a:avLst/>
          </a:prstGeom>
        </p:spPr>
      </p:pic>
      <p:pic>
        <p:nvPicPr>
          <p:cNvPr id="10" name="Picture 9">
            <a:extLst>
              <a:ext uri="{FF2B5EF4-FFF2-40B4-BE49-F238E27FC236}">
                <a16:creationId xmlns:a16="http://schemas.microsoft.com/office/drawing/2014/main" id="{C628FAD0-561A-8976-8DD8-2545C6F02AFE}"/>
              </a:ext>
            </a:extLst>
          </p:cNvPr>
          <p:cNvPicPr>
            <a:picLocks noChangeAspect="1"/>
          </p:cNvPicPr>
          <p:nvPr/>
        </p:nvPicPr>
        <p:blipFill>
          <a:blip r:embed="rId4"/>
          <a:stretch>
            <a:fillRect/>
          </a:stretch>
        </p:blipFill>
        <p:spPr>
          <a:xfrm>
            <a:off x="2566220" y="3429000"/>
            <a:ext cx="6322141" cy="3340510"/>
          </a:xfrm>
          <a:prstGeom prst="rect">
            <a:avLst/>
          </a:prstGeom>
        </p:spPr>
      </p:pic>
    </p:spTree>
    <p:extLst>
      <p:ext uri="{BB962C8B-B14F-4D97-AF65-F5344CB8AC3E}">
        <p14:creationId xmlns:p14="http://schemas.microsoft.com/office/powerpoint/2010/main" val="326887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6" name="Picture 5">
            <a:extLst>
              <a:ext uri="{FF2B5EF4-FFF2-40B4-BE49-F238E27FC236}">
                <a16:creationId xmlns:a16="http://schemas.microsoft.com/office/drawing/2014/main" id="{96A7F7F9-34FB-5613-EED0-510840AE2E60}"/>
              </a:ext>
            </a:extLst>
          </p:cNvPr>
          <p:cNvPicPr>
            <a:picLocks noChangeAspect="1"/>
          </p:cNvPicPr>
          <p:nvPr/>
        </p:nvPicPr>
        <p:blipFill>
          <a:blip r:embed="rId3"/>
          <a:stretch>
            <a:fillRect/>
          </a:stretch>
        </p:blipFill>
        <p:spPr>
          <a:xfrm>
            <a:off x="1113630" y="904567"/>
            <a:ext cx="9583867" cy="53389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endParaRPr lang="en-US" b="1" dirty="0"/>
          </a:p>
          <a:p>
            <a:r>
              <a:rPr lang="en-IN" dirty="0"/>
              <a:t>Agentic AI plays a crucial role in the </a:t>
            </a:r>
            <a:r>
              <a:rPr lang="en-IN" b="1" dirty="0"/>
              <a:t>AI Agent for Smart Farming Advice</a:t>
            </a:r>
            <a:r>
              <a:rPr lang="en-IN" dirty="0"/>
              <a:t> by acting as an intelligent decision-making assistant for farmers. It understands user queries related to crop selection, soil management, fertilizer usage, and pest control. The Agentic AI autonomously retrieves relevant information from the agricultural knowledge base using the RAG (Retrieval-Augmented Generation) approach. It </a:t>
            </a:r>
            <a:r>
              <a:rPr lang="en-IN" dirty="0" err="1"/>
              <a:t>analyzes</a:t>
            </a:r>
            <a:r>
              <a:rPr lang="en-IN" dirty="0"/>
              <a:t> the retrieved information and generates accurate, context-aware responses. The AI agent follows predefined guidelines to ensure reliable and farmer-friendly recommendations. It can handle multiple agricultural queries efficiently without human intervention. The system improves accessibility to agricultural knowledge and supports informed decision-making. By providing timely and personalized guidance, it helps farmers adopt smart farming practices. The Agentic AI also supports future enhancements such as multilingual communication, weather-based recommendations, and market insights. Thus, it serves as the core intelligence of the Smart Farming Advice system, enhancing productivity and sustainable agriculture.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47536"/>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6" name="Rectangle 3">
            <a:extLst>
              <a:ext uri="{FF2B5EF4-FFF2-40B4-BE49-F238E27FC236}">
                <a16:creationId xmlns:a16="http://schemas.microsoft.com/office/drawing/2014/main" id="{9863DAEA-69F5-E087-047D-BDAC9F8923B6}"/>
              </a:ext>
            </a:extLst>
          </p:cNvPr>
          <p:cNvSpPr>
            <a:spLocks noChangeArrowheads="1"/>
          </p:cNvSpPr>
          <p:nvPr/>
        </p:nvSpPr>
        <p:spPr bwMode="auto">
          <a:xfrm>
            <a:off x="206477" y="1235030"/>
            <a:ext cx="1157256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AI-Powered Smart Farming Assistant</a:t>
            </a:r>
            <a:r>
              <a:rPr kumimoji="0" lang="en-US" altLang="en-US" sz="1800" b="0" i="0" u="none" strike="noStrike" cap="none" normalizeH="0" baseline="0" dirty="0">
                <a:ln>
                  <a:noFill/>
                </a:ln>
                <a:solidFill>
                  <a:schemeClr val="tx1"/>
                </a:solidFill>
                <a:effectLst/>
                <a:latin typeface="Arial" panose="020B0604020202020204" pitchFamily="34" charset="0"/>
              </a:rPr>
              <a:t> - The project uses Agentic AI to provide intelligent agricultural guidance, making farming knowledge easily accessible to farmers.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IBM watsonx Orchestrate</a:t>
            </a:r>
            <a:r>
              <a:rPr kumimoji="0" lang="en-US" altLang="en-US" sz="1800" b="0" i="0" u="none" strike="noStrike" cap="none" normalizeH="0" baseline="0" dirty="0">
                <a:ln>
                  <a:noFill/>
                </a:ln>
                <a:solidFill>
                  <a:schemeClr val="tx1"/>
                </a:solidFill>
                <a:effectLst/>
                <a:latin typeface="Arial" panose="020B0604020202020204" pitchFamily="34" charset="0"/>
              </a:rPr>
              <a:t> - Utilizes IBM watsonx Orchestrate for building an advanced AI agent capable of understanding and responding to agricultural queries.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Retrieval-Augmented Generation (RAG) Approach</a:t>
            </a:r>
            <a:r>
              <a:rPr kumimoji="0" lang="en-US" altLang="en-US" sz="1800" b="0" i="0" u="none" strike="noStrike" cap="none" normalizeH="0" baseline="0" dirty="0">
                <a:ln>
                  <a:noFill/>
                </a:ln>
                <a:solidFill>
                  <a:schemeClr val="tx1"/>
                </a:solidFill>
                <a:effectLst/>
                <a:latin typeface="Arial" panose="020B0604020202020204" pitchFamily="34" charset="0"/>
              </a:rPr>
              <a:t> - Combines Large Language Models with document retrieval to provide accurate and knowledge-based answers instead of generic AI responses.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Agriculture-Specific Knowledge Base</a:t>
            </a:r>
            <a:r>
              <a:rPr kumimoji="0" lang="en-US" altLang="en-US" sz="1800" b="0" i="0" u="none" strike="noStrike" cap="none" normalizeH="0" baseline="0" dirty="0">
                <a:ln>
                  <a:noFill/>
                </a:ln>
                <a:solidFill>
                  <a:schemeClr val="tx1"/>
                </a:solidFill>
                <a:effectLst/>
                <a:latin typeface="Arial" panose="020B0604020202020204" pitchFamily="34" charset="0"/>
              </a:rPr>
              <a:t> - Uses dedicated farming documents such as crop cultivation guides, soil management manuals, and pest control handbooks to generate reliable recommendations.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Farming Recommendations</a:t>
            </a:r>
            <a:r>
              <a:rPr kumimoji="0" lang="en-US" altLang="en-US" sz="1800" b="0" i="0" u="none" strike="noStrike" cap="none" normalizeH="0" baseline="0" dirty="0">
                <a:ln>
                  <a:noFill/>
                </a:ln>
                <a:solidFill>
                  <a:schemeClr val="tx1"/>
                </a:solidFill>
                <a:effectLst/>
                <a:latin typeface="Arial" panose="020B0604020202020204" pitchFamily="34" charset="0"/>
              </a:rPr>
              <a:t> - Provides crop, soil, fertilizer, and pest management advice based on the user's specific farming requirements.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https://github.com/rohitdenge07/AI-Agent-for-Smart-Farming-Advice-</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AutoNum type="arabicPeriod"/>
            </a:pPr>
            <a:r>
              <a:rPr lang="en-IN" b="1" dirty="0"/>
              <a:t>Integration of Real-Time Agricultural Data</a:t>
            </a:r>
            <a:br>
              <a:rPr lang="en-IN" dirty="0"/>
            </a:br>
            <a:r>
              <a:rPr lang="en-IN" dirty="0"/>
              <a:t>In the future, the Smart Farming Advisor can be integrated with real-time weather forecasting systems, market price databases, and government agricultural portals. This enhancement will enable farmers to receive up-to-date information regarding climate conditions, crop prices, and farming advisories. Access to real-time data will improve decision-making, reduce risks, and increase agricultural productivity</a:t>
            </a:r>
            <a:r>
              <a:rPr lang="en-IN" sz="2000" dirty="0"/>
              <a:t>.</a:t>
            </a:r>
          </a:p>
          <a:p>
            <a:pPr marL="342900" indent="-342900">
              <a:lnSpc>
                <a:spcPct val="162162"/>
              </a:lnSpc>
              <a:buClr>
                <a:srgbClr val="2B3541"/>
              </a:buClr>
              <a:buSzPts val="1850"/>
              <a:buFont typeface="Arial"/>
              <a:buAutoNum type="arabicPeriod"/>
            </a:pPr>
            <a:r>
              <a:rPr lang="en-IN" b="1" dirty="0"/>
              <a:t> Mobile Application and Multilingual Support</a:t>
            </a:r>
            <a:br>
              <a:rPr lang="en-IN" dirty="0"/>
            </a:br>
            <a:r>
              <a:rPr lang="en-IN" dirty="0"/>
              <a:t>The system can be extended into a dedicated mobile application with support for multiple regional languages and voice-based interaction. This will make the platform more accessible to farmers who may have limited technical knowledge or literacy skills. By providing easy access through smartphones, the solution can reach a larger farming community and promote the adoption of smart farming practices.</a:t>
            </a:r>
          </a:p>
          <a:p>
            <a:pPr marL="342900" lvl="0" indent="-342900">
              <a:lnSpc>
                <a:spcPct val="162162"/>
              </a:lnSpc>
              <a:buClr>
                <a:srgbClr val="2B3541"/>
              </a:buClr>
              <a:buSzPts val="1850"/>
              <a:buAutoNum type="arabicPeriod"/>
            </a:pPr>
            <a:endParaRPr lang="en-IN" sz="2000" dirty="0"/>
          </a:p>
          <a:p>
            <a:pPr marL="457200" lvl="0" indent="-457200">
              <a:lnSpc>
                <a:spcPct val="162162"/>
              </a:lnSpc>
              <a:buClr>
                <a:srgbClr val="2B3541"/>
              </a:buClr>
              <a:buSzPts val="1850"/>
              <a:buAutoNum type="arabicPeriod"/>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1378</TotalTime>
  <Words>1243</Words>
  <Application>Microsoft Office PowerPoint</Application>
  <PresentationFormat>Widescreen</PresentationFormat>
  <Paragraphs>110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Rohit Denge</cp:lastModifiedBy>
  <cp:revision>35</cp:revision>
  <dcterms:created xsi:type="dcterms:W3CDTF">2025-07-08T05:06:56Z</dcterms:created>
  <dcterms:modified xsi:type="dcterms:W3CDTF">2026-06-04T19:18:29Z</dcterms:modified>
</cp:coreProperties>
</file>